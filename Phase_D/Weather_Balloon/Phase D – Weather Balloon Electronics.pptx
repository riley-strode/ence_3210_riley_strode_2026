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B7D69-CB3F-1B2A-D12C-09744BE0278C}" v="486" dt="2026-03-13T13:14:05.403"/>
    <p1510:client id="{3511918B-069E-A00D-4612-61AD674543D2}" v="424" dt="2026-03-13T13:56:00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3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9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1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2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5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6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9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8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87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70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vilros.com/products/10k-potentiometer?variant=21355384406116&amp;country=US&amp;currency=USD&amp;utm_medium=product_sync&amp;utm_source=google&amp;utm_content=sag_organic&amp;utm_campaign=sag_organic&amp;srsltid=AfmBOop6qFgeIMUqvxJHiOfE1zMpBU583yQMG74tG8nUrfkeHqJugcrw-r0&amp;com_cvv=8fb3d522dc163aeadb66e08cd7450cbbdddc64c6cf2e8891f6d48747c6d56d2c" TargetMode="External"/><Relationship Id="rId3" Type="http://schemas.openxmlformats.org/officeDocument/2006/relationships/hyperlink" Target="https://cdn-learn.adafruit.com/downloads/pdf/adafruit-analog-accelerometer-breakouts.pdf" TargetMode="External"/><Relationship Id="rId7" Type="http://schemas.openxmlformats.org/officeDocument/2006/relationships/hyperlink" Target="https://www.digikey.com/en/products/detail/adafruit-industries-llc/4494/11569124" TargetMode="External"/><Relationship Id="rId2" Type="http://schemas.openxmlformats.org/officeDocument/2006/relationships/hyperlink" Target="https://www.digikey.com/en/products/detail/adafruit-industries-llc/163/5353580?gclsrc=aw.ds&amp;gad_source=1&amp;gad_campaignid=20243136172&amp;gbraid=0AAAAADrbLlihOdmDAuf8dQ141Rtil163a&amp;gclid=CjwKCAjwpcTNBhA5EiwAdO1S9qGME7eMpeVcLuNT3RO9lP6GXdeZN5qHc8t9ze1nMbeRT-9XKnBIGxoCA8QQAvD_B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m.digikey.com/Volume0/opasdata/d220001/medias/docus/60/4494_Web.pdf" TargetMode="External"/><Relationship Id="rId5" Type="http://schemas.openxmlformats.org/officeDocument/2006/relationships/hyperlink" Target="https://cdn-learn.adafruit.com/downloads/pdf/adafruit-hts221-temperature-humidity-sensor.pdf" TargetMode="External"/><Relationship Id="rId4" Type="http://schemas.openxmlformats.org/officeDocument/2006/relationships/hyperlink" Target="https://www.digikey.com/en/products/detail/sparkfun-electronics/11050/5721423" TargetMode="External"/><Relationship Id="rId9" Type="http://schemas.openxmlformats.org/officeDocument/2006/relationships/hyperlink" Target="https://www.digikey.com/en/products/detail/bourns-inc/3386P-1-103T/25371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/>
              <a:t>Weather Balloon </a:t>
            </a:r>
            <a:r>
              <a:rPr lang="en-US" sz="5800"/>
              <a:t>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/>
              <a:t>By: Riley Strode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8E330-F998-6BBF-0975-FF5148154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5" r="-10" b="-10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E507D-267A-779B-094C-91EB7B6E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Project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EE90-A29E-B3D1-1A57-F984557B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Internal temperature sensing (for component monitoring)</a:t>
            </a:r>
            <a:endParaRPr lang="en-US"/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External </a:t>
            </a:r>
            <a:r>
              <a:rPr lang="en-US"/>
              <a:t>temperature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dirty="0"/>
              <a:t>Humi</a:t>
            </a:r>
            <a:r>
              <a:rPr lang="en-US"/>
              <a:t>dity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Air pressure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6 LED indicators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Multi-axis acceleration sensing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Battery-powered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/>
              <a:t>Data storage</a:t>
            </a:r>
          </a:p>
        </p:txBody>
      </p:sp>
      <p:pic>
        <p:nvPicPr>
          <p:cNvPr id="4" name="Picture 3" descr="A group of electronic components&#10;&#10;AI-generated content may be incorrect.">
            <a:extLst>
              <a:ext uri="{FF2B5EF4-FFF2-40B4-BE49-F238E27FC236}">
                <a16:creationId xmlns:a16="http://schemas.microsoft.com/office/drawing/2014/main" id="{882D2CFB-648D-1762-CCB2-96B5A7BA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88" b="2"/>
          <a:stretch>
            <a:fillRect/>
          </a:stretch>
        </p:blipFill>
        <p:spPr>
          <a:xfrm>
            <a:off x="5671128" y="870097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2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98C6C5-134F-100D-6EBF-9770642C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317" y="1289353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Project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48A05F-A7CC-8AFC-648B-622BFA5CA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317" y="2550989"/>
            <a:ext cx="8506532" cy="4121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Less than $147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Less than 200g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n-US" sz="2800"/>
              <a:t>Low power consumption (if possible)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652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EA44-A018-FD20-8DD9-03B9D83C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Updated Components: Adafruit ADXL335 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B7B7-5897-E88D-166C-86B3DE40C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Adafruit ADXL335 </a:t>
            </a:r>
            <a:r>
              <a:rPr lang="en-US"/>
              <a:t>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3-Axis </a:t>
            </a:r>
            <a:r>
              <a:rPr lang="en-US"/>
              <a:t>Accelerometer (0-3G)</a:t>
            </a:r>
            <a:endParaRPr lang="en-US" dirty="0"/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en-US" dirty="0"/>
              <a:t>Other </a:t>
            </a:r>
            <a:r>
              <a:rPr lang="en-US"/>
              <a:t>acceleration ranges available with same footprint and price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~$14.95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~0.945mA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~1.27g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4" name="Picture 3" descr="A red circuit board with white circles and black chips&#10;&#10;AI-generated content may be incorrect.">
            <a:extLst>
              <a:ext uri="{FF2B5EF4-FFF2-40B4-BE49-F238E27FC236}">
                <a16:creationId xmlns:a16="http://schemas.microsoft.com/office/drawing/2014/main" id="{F66BB2D1-0899-AC99-1CE7-73188533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624" y="3029294"/>
            <a:ext cx="2769810" cy="245533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83665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2D16-F697-621E-9A7F-B2A0ED7D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13ED-FEFE-871B-B7BA-8F74DC83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</a:t>
            </a:r>
            <a:r>
              <a:rPr lang="en-US" dirty="0" err="1"/>
              <a:t>SparkFun</a:t>
            </a:r>
            <a:r>
              <a:rPr lang="en-US" dirty="0"/>
              <a:t> 11050 Waterproof Temperature Sensor (external)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B65E-17DC-3B88-5CF9-60297C53E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SparkFun</a:t>
            </a:r>
            <a:r>
              <a:rPr lang="en-US" dirty="0"/>
              <a:t> 11050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Durable external temperature sensor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-55ºC to 125ºC range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~$11.25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~8g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Close-up of a black cable&#10;&#10;AI-generated content may be incorrect.">
            <a:extLst>
              <a:ext uri="{FF2B5EF4-FFF2-40B4-BE49-F238E27FC236}">
                <a16:creationId xmlns:a16="http://schemas.microsoft.com/office/drawing/2014/main" id="{3673FD15-C0FA-17D0-BA32-6DFCEAF46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17" y="2861930"/>
            <a:ext cx="3212481" cy="311002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31991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2FD3-0E3F-9D2E-331B-5E381AF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330E-9302-38CD-46F9-132CD378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Updated Components: Adafruit HTS221 Humidity + Internal Temperature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23710-0675-89AA-CD36-AB6421ED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8564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Adafruit HTS221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Combines tempe</a:t>
            </a:r>
            <a:r>
              <a:rPr lang="en-US"/>
              <a:t>rature and humidity monitoring into one device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-40ºC to 120ºC range with 0.5ºC precision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3.5% humidity precision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I2C data transfer implementation available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~$8.91 (when purchasing at least 10)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~0.006mA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~1.4g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D9BE8E80-CCA7-7F73-3403-C7A0DC52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81" y="3252699"/>
            <a:ext cx="3650554" cy="2657231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14859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37B-22C1-5005-4214-B3D5D4D0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4004-350D-8472-8F1C-9E26D146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Adafruit 4494 Barometric </a:t>
            </a:r>
            <a:r>
              <a:rPr lang="en-US"/>
              <a:t>Pressure Sensor (DSP310)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2DD0E-3160-24E7-00E7-16CEF413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Adafruit DSP310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I2C implementation available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Up to 0.002 hPa precision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~$6.95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~0.007mA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close-up of a black circuit board&#10;&#10;AI-generated content may be incorrect.">
            <a:extLst>
              <a:ext uri="{FF2B5EF4-FFF2-40B4-BE49-F238E27FC236}">
                <a16:creationId xmlns:a16="http://schemas.microsoft.com/office/drawing/2014/main" id="{9651CA9E-1BA4-175A-5DAB-F1394CDE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513" y="2815318"/>
            <a:ext cx="3981450" cy="2533650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08196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A4E3-18FD-0CB6-DBCF-8107D546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3D04-FE32-999F-BE9C-EE9AFB2D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</a:t>
            </a:r>
            <a:r>
              <a:rPr lang="en-US" dirty="0" err="1"/>
              <a:t>SparkFun</a:t>
            </a:r>
            <a:r>
              <a:rPr lang="en-US" dirty="0"/>
              <a:t> </a:t>
            </a:r>
            <a:r>
              <a:rPr lang="en-US" dirty="0" err="1"/>
              <a:t>Qwiic</a:t>
            </a:r>
            <a:r>
              <a:rPr lang="en-US" dirty="0"/>
              <a:t> </a:t>
            </a:r>
            <a:r>
              <a:rPr lang="en-US" dirty="0" err="1"/>
              <a:t>OpenLog</a:t>
            </a:r>
            <a:r>
              <a:rPr lang="en-US" dirty="0"/>
              <a:t> 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70BF-0BA9-DCE1-A1E2-7F17C9DC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OpenLog</a:t>
            </a:r>
            <a:r>
              <a:rPr lang="en-US" dirty="0"/>
              <a:t> 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Stores data from microcontroller on microSD card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~$19.95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~15mA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~2g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red circuit board with black and red components&#10;&#10;AI-generated content may be incorrect.">
            <a:extLst>
              <a:ext uri="{FF2B5EF4-FFF2-40B4-BE49-F238E27FC236}">
                <a16:creationId xmlns:a16="http://schemas.microsoft.com/office/drawing/2014/main" id="{C016B6D6-B7CC-2402-B33E-41BC3A10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772" y="2945190"/>
            <a:ext cx="3261597" cy="29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8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FC2E-AD94-E9A7-24D3-F02558D1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5504-F4D7-574E-C271-4F2C4DD1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Updated Components: Bourns Inc 3386P-1-103T 10k Potentio</a:t>
            </a:r>
            <a:r>
              <a:rPr lang="en-US"/>
              <a:t>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48E6-A995-BFA0-79E1-DFDB0745F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Bourns 10k Potentiometer: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Allows for user tuning of system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~$3.07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~power consumption depends on user input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~1g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blue plastic knob with a cross&#10;&#10;AI-generated content may be incorrect.">
            <a:extLst>
              <a:ext uri="{FF2B5EF4-FFF2-40B4-BE49-F238E27FC236}">
                <a16:creationId xmlns:a16="http://schemas.microsoft.com/office/drawing/2014/main" id="{D5E40856-D05D-0CF3-4A30-CCF1DD2B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17" y="3201761"/>
            <a:ext cx="3132365" cy="2165955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59961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1D19-46D9-EAEF-2DDC-A289C1B1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82B3-BF4C-0D3E-FE9D-2CF458B7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Updated Components: Arduino Uno (unchanged)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C8BC-FAA0-4AA2-D376-00391EDE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89950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Arduino Uno  Specifications: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/>
              <a:t>3-Axis </a:t>
            </a:r>
            <a:r>
              <a:rPr lang="en-US"/>
              <a:t>Accelerometer (0-3G)</a:t>
            </a:r>
            <a:endParaRPr lang="en-US" dirty="0"/>
          </a:p>
          <a:p>
            <a:pPr marL="607695" lvl="1" indent="-342900">
              <a:buFont typeface="Courier New" panose="020B0604020202020204" pitchFamily="34" charset="0"/>
              <a:buChar char="o"/>
            </a:pPr>
            <a:r>
              <a:rPr lang="en-US" dirty="0"/>
              <a:t>Other </a:t>
            </a:r>
            <a:r>
              <a:rPr lang="en-US"/>
              <a:t>acceleration ranges available with same footprint and price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~$27.50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~4000mA operating power consumption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/>
              <a:t>~25g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/>
          </a:p>
        </p:txBody>
      </p:sp>
      <p:pic>
        <p:nvPicPr>
          <p:cNvPr id="5" name="Picture 4" descr="A blue circuit board with black and silver wires&#10;&#10;AI-generated content may be incorrect.">
            <a:extLst>
              <a:ext uri="{FF2B5EF4-FFF2-40B4-BE49-F238E27FC236}">
                <a16:creationId xmlns:a16="http://schemas.microsoft.com/office/drawing/2014/main" id="{DFDD2827-141F-AC47-69B6-E51133788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651" y="2635770"/>
            <a:ext cx="3687649" cy="324162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62851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8DE3-9B5C-4A19-C21E-F963A1F9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 of Components: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2F10-23A3-838A-83A5-3FE8AD56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Price: $92.58 + Shipping ($6.99) + Pacific EMS PCB manufacturing (~$20) = $119.57</a:t>
            </a:r>
          </a:p>
          <a:p>
            <a:r>
              <a:rPr lang="en-US"/>
              <a:t>Weight: ~54.67 g</a:t>
            </a:r>
            <a:endParaRPr lang="en-US" dirty="0"/>
          </a:p>
          <a:p>
            <a:r>
              <a:rPr lang="en-US"/>
              <a:t>Power Consumption: ~4.02 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68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1615-B07F-1B55-5BF4-FF24B38F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Block Diagram:</a:t>
            </a:r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02AAA979-F527-4BC8-3FF5-AEF817A9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918" y="2236033"/>
            <a:ext cx="5151671" cy="4259705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563103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21A0-F86E-960B-14AF-798DEB67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Schematic: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AE07C-B2BC-5B29-9A60-0CA5CE39F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71" y="2367743"/>
            <a:ext cx="11248837" cy="343375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057472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56A6-B0D5-3C89-D99E-0570EEC0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Layout:</a:t>
            </a:r>
          </a:p>
        </p:txBody>
      </p:sp>
      <p:pic>
        <p:nvPicPr>
          <p:cNvPr id="4" name="Picture 3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57AA45B6-9DF4-AC25-9A3A-EDE28DA8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160" y="2235678"/>
            <a:ext cx="5787680" cy="439228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16318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EAA9-CCF8-ADE0-3111-3266DD68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Citations: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D01F-88EB-3FF3-923F-59C5F003C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2"/>
              </a:rPr>
              <a:t>https://www.digikey.com/en/products/detail/adafruit-industries-llc/163/5353580?gclsrc=aw.ds&amp;gad_source=1&amp;gad_campaignid=20243136172&amp;gbraid=0AAAAADrbLlihOdmDAuf8dQ141Rtil163a&amp;gclid=CjwKCAjwpcTNBhA5EiwAdO1S9qGME7eMpeVcLuNT3RO9lP6GXdeZN5qHc8t9ze1nMbeRT-9XKnBIGxoCA8QQAvD_BwE</a:t>
            </a:r>
            <a:endParaRPr lang="en-US">
              <a:latin typeface="Grandview Display"/>
              <a:cs typeface="Segoe UI"/>
            </a:endParaRP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3"/>
              </a:rPr>
              <a:t>https://cdn-learn.adafruit.com/downloads/pdf/adafruit-analog-accelerometer-breakouts.pdf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4"/>
              </a:rPr>
              <a:t>https://www.digikey.com/en/products/detail/sparkfun-electronics/11050/5721423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5"/>
              </a:rPr>
              <a:t>https://cdn-learn.adafruit.com/downloads/pdf/adafruit-hts221-temperature-humidity-sensor.pdf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6"/>
              </a:rPr>
              <a:t>https://mm.digikey.com/Volume0/opasdata/d220001/medias/docus/60/4494_Web.pdf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7"/>
              </a:rPr>
              <a:t>https://www.digikey.com/en/products/detail/adafruit-industries-llc/4494/11569124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8"/>
              </a:rPr>
              <a:t>https://vilros.com/products/10k-potentiometer?variant=21355384406116&amp;country=US&amp;currency=USD&amp;utm_medium=product_sync&amp;utm_source=google&amp;utm_content=sag_organic&amp;utm_campaign=sag_organic&amp;srsltid=AfmBOop6qFgeIMUqvxJHiOfE1zMpBU583yQMG74tG8nUrfkeHqJugcrw-r0&amp;com_cvv=8fb3d522dc163aeadb66e08cd7450cbbdddc64c6cf2e8891f6d48747c6d56d2c</a:t>
            </a:r>
          </a:p>
          <a:p>
            <a:r>
              <a:rPr lang="en-US" sz="900" dirty="0">
                <a:highlight>
                  <a:srgbClr val="FFFFFF"/>
                </a:highlight>
                <a:latin typeface="Segoe UI"/>
                <a:cs typeface="Segoe UI"/>
                <a:hlinkClick r:id="rId9"/>
              </a:rPr>
              <a:t>https://www.digikey.com/en/products/detail/bourns-inc/3386P-1-103T/2537199</a:t>
            </a:r>
          </a:p>
          <a:p>
            <a:endParaRPr lang="en-US" sz="900" dirty="0">
              <a:highlight>
                <a:srgbClr val="FFFFFF"/>
              </a:highlight>
              <a:latin typeface="Segoe UI"/>
              <a:cs typeface="Segoe UI"/>
            </a:endParaRPr>
          </a:p>
          <a:p>
            <a:endParaRPr lang="en-US" sz="900" dirty="0"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8290150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Weather Balloon Electronics</vt:lpstr>
      <vt:lpstr>Project Requirements</vt:lpstr>
      <vt:lpstr>Project Requirements</vt:lpstr>
      <vt:lpstr>Updated Components: Adafruit ADXL335 (unchanged)</vt:lpstr>
      <vt:lpstr>Updated Components: SparkFun 11050 Waterproof Temperature Sensor (external)</vt:lpstr>
      <vt:lpstr>Updated Components: Adafruit HTS221 Humidity + Internal Temperature Sensor</vt:lpstr>
      <vt:lpstr>Updated Components: Adafruit 4494 Barometric Pressure Sensor (DSP310)</vt:lpstr>
      <vt:lpstr>Updated Components: SparkFun Qwiic OpenLog (unchanged)</vt:lpstr>
      <vt:lpstr>Updated Components: Bourns Inc 3386P-1-103T 10k Potentiometer</vt:lpstr>
      <vt:lpstr>Updated Components: Arduino Uno (unchanged)</vt:lpstr>
      <vt:lpstr>Sum of Components:</vt:lpstr>
      <vt:lpstr>System Block Diagram:</vt:lpstr>
      <vt:lpstr>Schematic:</vt:lpstr>
      <vt:lpstr>PCB Layout:</vt:lpstr>
      <vt:lpstr>Citations: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307</cp:revision>
  <dcterms:created xsi:type="dcterms:W3CDTF">2026-03-13T12:47:37Z</dcterms:created>
  <dcterms:modified xsi:type="dcterms:W3CDTF">2026-03-13T14:13:42Z</dcterms:modified>
</cp:coreProperties>
</file>